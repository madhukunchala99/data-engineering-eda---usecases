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 crore)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8.48</c:v>
                </c:pt>
                <c:pt idx="1">
                  <c:v>7.38</c:v>
                </c:pt>
                <c:pt idx="2">
                  <c:v>8.07</c:v>
                </c:pt>
                <c:pt idx="3">
                  <c:v>7.57</c:v>
                </c:pt>
                <c:pt idx="4">
                  <c:v>7.56</c:v>
                </c:pt>
                <c:pt idx="5">
                  <c:v>6.93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Six-month revenue (₹ crore)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S12 Kakinada</c:v>
                </c:pt>
                <c:pt idx="1">
                  <c:v>S10 Nellore</c:v>
                </c:pt>
                <c:pt idx="2">
                  <c:v>S05 Rajahmundry</c:v>
                </c:pt>
                <c:pt idx="3">
                  <c:v>S11 Kakinada</c:v>
                </c:pt>
                <c:pt idx="4">
                  <c:v>S09 Nellore</c:v>
                </c:pt>
                <c:pt idx="5">
                  <c:v>S08 Tirupati</c:v>
                </c:pt>
                <c:pt idx="6">
                  <c:v>S04 Guntur</c:v>
                </c:pt>
                <c:pt idx="7">
                  <c:v>S02 Vijayawada</c:v>
                </c:pt>
                <c:pt idx="8">
                  <c:v>S06 Rajahmundry</c:v>
                </c:pt>
                <c:pt idx="9">
                  <c:v>S07 Tirupati</c:v>
                </c:pt>
                <c:pt idx="10">
                  <c:v>S03 Guntur</c:v>
                </c:pt>
                <c:pt idx="11">
                  <c:v>S01 Vijayawada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2.2</c:v>
                </c:pt>
                <c:pt idx="1">
                  <c:v>2.22</c:v>
                </c:pt>
                <c:pt idx="2">
                  <c:v>2.52</c:v>
                </c:pt>
                <c:pt idx="3">
                  <c:v>3.28</c:v>
                </c:pt>
                <c:pt idx="4">
                  <c:v>3.35</c:v>
                </c:pt>
                <c:pt idx="5">
                  <c:v>3.5</c:v>
                </c:pt>
                <c:pt idx="6">
                  <c:v>4.14</c:v>
                </c:pt>
                <c:pt idx="7">
                  <c:v>4.21</c:v>
                </c:pt>
                <c:pt idx="8">
                  <c:v>4.5</c:v>
                </c:pt>
                <c:pt idx="9">
                  <c:v>4.85</c:v>
                </c:pt>
                <c:pt idx="10">
                  <c:v>5.32</c:v>
                </c:pt>
                <c:pt idx="11">
                  <c:v>5.91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Electronics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86</c:v>
                </c:pt>
                <c:pt idx="3">
                  <c:v>80</c:v>
                </c:pt>
                <c:pt idx="4">
                  <c:v>72</c:v>
                </c:pt>
                <c:pt idx="5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Apparel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107</c:v>
                </c:pt>
                <c:pt idx="2">
                  <c:v>113</c:v>
                </c:pt>
                <c:pt idx="3">
                  <c:v>120</c:v>
                </c:pt>
                <c:pt idx="4">
                  <c:v>128</c:v>
                </c:pt>
                <c:pt idx="5">
                  <c:v>134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Grocery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98</c:v>
                </c:pt>
                <c:pt idx="4">
                  <c:v>97</c:v>
                </c:pt>
                <c:pt idx="5">
                  <c:v>96.5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Home &amp; Kitchen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100</c:v>
                </c:pt>
                <c:pt idx="1">
                  <c:v>97</c:v>
                </c:pt>
                <c:pt idx="2">
                  <c:v>94</c:v>
                </c:pt>
                <c:pt idx="3">
                  <c:v>92</c:v>
                </c:pt>
                <c:pt idx="4">
                  <c:v>86</c:v>
                </c:pt>
                <c:pt idx="5">
                  <c:v>81.5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Personal Care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100</c:v>
                </c:pt>
                <c:pt idx="1">
                  <c:v>101</c:v>
                </c:pt>
                <c:pt idx="2">
                  <c:v>100</c:v>
                </c:pt>
                <c:pt idx="3">
                  <c:v>101</c:v>
                </c:pt>
                <c:pt idx="4">
                  <c:v>101</c:v>
                </c:pt>
                <c:pt idx="5">
                  <c:v>102.2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revenue (₹ lakh)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20.12</c:v>
                </c:pt>
                <c:pt idx="1">
                  <c:v>20.54</c:v>
                </c:pt>
                <c:pt idx="2">
                  <c:v>22.28</c:v>
                </c:pt>
                <c:pt idx="3">
                  <c:v>22.45</c:v>
                </c:pt>
                <c:pt idx="4">
                  <c:v>26.24</c:v>
                </c:pt>
                <c:pt idx="5">
                  <c:v>35.24</c:v>
                </c:pt>
                <c:pt idx="6">
                  <c:v>30.83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Weekly revenue (₹ lakh)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S10 Nellore</c:v>
                </c:pt>
                <c:pt idx="1">
                  <c:v>S12 Kakinada</c:v>
                </c:pt>
                <c:pt idx="2">
                  <c:v>S05 Rajahmundry</c:v>
                </c:pt>
                <c:pt idx="3">
                  <c:v>S09 Nellore</c:v>
                </c:pt>
                <c:pt idx="4">
                  <c:v>S02 Vijayawada</c:v>
                </c:pt>
                <c:pt idx="5">
                  <c:v>S11 Kakinada</c:v>
                </c:pt>
                <c:pt idx="6">
                  <c:v>S08 Tirupati</c:v>
                </c:pt>
                <c:pt idx="7">
                  <c:v>S04 Guntur</c:v>
                </c:pt>
                <c:pt idx="8">
                  <c:v>S07 Tirupati</c:v>
                </c:pt>
                <c:pt idx="9">
                  <c:v>S06 Rajahmundry</c:v>
                </c:pt>
                <c:pt idx="10">
                  <c:v>S01 Vijayawada</c:v>
                </c:pt>
                <c:pt idx="11">
                  <c:v>S03 Guntur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6.27</c:v>
                </c:pt>
                <c:pt idx="1">
                  <c:v>8.87</c:v>
                </c:pt>
                <c:pt idx="2">
                  <c:v>9.42</c:v>
                </c:pt>
                <c:pt idx="3">
                  <c:v>9.76</c:v>
                </c:pt>
                <c:pt idx="4">
                  <c:v>12.18</c:v>
                </c:pt>
                <c:pt idx="5">
                  <c:v>12.5</c:v>
                </c:pt>
                <c:pt idx="6">
                  <c:v>12.69</c:v>
                </c:pt>
                <c:pt idx="7">
                  <c:v>12.85</c:v>
                </c:pt>
                <c:pt idx="8">
                  <c:v>13.5</c:v>
                </c:pt>
                <c:pt idx="9">
                  <c:v>15.65</c:v>
                </c:pt>
                <c:pt idx="10">
                  <c:v>16.08</c:v>
                </c:pt>
                <c:pt idx="11">
                  <c:v>20.38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0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Retail Sales Pulse</a:t>
            </a:r>
          </a:p>
          <a:p>
            <a:r>
              <a:rPr sz="2700">
                <a:solidFill>
                  <a:srgbClr val="C3D2E1"/>
                </a:solidFill>
              </a:rPr>
              <a:t>From Analysis to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5468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FFFFFF"/>
                </a:solidFill>
              </a:rPr>
              <a:t>Six months of retail insights → automated weekly sales pulse</a:t>
            </a:r>
          </a:p>
          <a:p>
            <a:r>
              <a:rPr sz="1300">
                <a:solidFill>
                  <a:srgbClr val="B4C3D2"/>
                </a:solidFill>
              </a:rPr>
              <a:t>Calibo AI Academy | Phase 1 — Mini Use Case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00600"/>
            <a:ext cx="21945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800600"/>
            <a:ext cx="64008" cy="960120"/>
          </a:xfrm>
          <a:prstGeom prst="rect">
            <a:avLst/>
          </a:prstGeom>
          <a:solidFill>
            <a:srgbClr val="30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107,836</a:t>
            </a:r>
          </a:p>
          <a:p>
            <a:r>
              <a:rPr sz="1050">
                <a:solidFill>
                  <a:srgbClr val="6E7882"/>
                </a:solidFill>
              </a:rPr>
              <a:t>historical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800600"/>
            <a:ext cx="21945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4800600"/>
            <a:ext cx="64008" cy="96012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9194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12</a:t>
            </a:r>
          </a:p>
          <a:p>
            <a:r>
              <a:rPr sz="1050">
                <a:solidFill>
                  <a:srgbClr val="6E7882"/>
                </a:solidFill>
              </a:rPr>
              <a:t>retail stores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800600"/>
            <a:ext cx="21945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4800600"/>
            <a:ext cx="64008" cy="96012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49194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5</a:t>
            </a:r>
          </a:p>
          <a:p>
            <a:r>
              <a:rPr sz="1050">
                <a:solidFill>
                  <a:srgbClr val="6E7882"/>
                </a:solidFill>
              </a:rPr>
              <a:t>product 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800600"/>
            <a:ext cx="21945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800600"/>
            <a:ext cx="64008" cy="960120"/>
          </a:xfrm>
          <a:prstGeom prst="rect">
            <a:avLst/>
          </a:prstGeom>
          <a:solidFill>
            <a:srgbClr val="46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49194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4,291</a:t>
            </a:r>
          </a:p>
          <a:p>
            <a:r>
              <a:rPr sz="1050">
                <a:solidFill>
                  <a:srgbClr val="6E7882"/>
                </a:solidFill>
              </a:rPr>
              <a:t>weekly API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Turn retail data into a repeatable decision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741"/>
                </a:solidFill>
              </a:defRPr>
            </a:pPr>
            <a:r>
              <a:t>• The Head of Retail Operations is allocating Q3 promotional spend.</a:t>
            </a:r>
          </a:p>
          <a:p>
            <a:pPr>
              <a:spcAft>
                <a:spcPts val="1100"/>
              </a:spcAft>
              <a:defRPr sz="1800">
                <a:solidFill>
                  <a:srgbClr val="2D3741"/>
                </a:solidFill>
              </a:defRPr>
            </a:pPr>
            <a:r>
              <a:t>• Historical data exists, but the weekly sales view was not automated.</a:t>
            </a:r>
          </a:p>
          <a:p>
            <a:pPr>
              <a:spcAft>
                <a:spcPts val="1100"/>
              </a:spcAft>
              <a:defRPr sz="1800">
                <a:solidFill>
                  <a:srgbClr val="2D3741"/>
                </a:solidFill>
              </a:defRPr>
            </a:pPr>
            <a:r>
              <a:t>• The business needs to know which stores and categories need attention.</a:t>
            </a:r>
          </a:p>
          <a:p>
            <a:pPr>
              <a:spcAft>
                <a:spcPts val="1100"/>
              </a:spcAft>
              <a:defRPr sz="1800">
                <a:solidFill>
                  <a:srgbClr val="2D3741"/>
                </a:solidFill>
              </a:defRPr>
            </a:pPr>
            <a:r>
              <a:t>• The weekly process must also validate new data before it is trusted.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17320"/>
            <a:ext cx="4572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5D8C"/>
                </a:solidFill>
              </a:rPr>
              <a:t>Part 1</a:t>
            </a:r>
          </a:p>
          <a:p>
            <a:r>
              <a:rPr sz="1300">
                <a:solidFill>
                  <a:srgbClr val="2D3741"/>
                </a:solidFill>
              </a:rPr>
              <a:t>Find evidence from six months of historical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834640"/>
            <a:ext cx="4572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97180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08282"/>
                </a:solidFill>
              </a:rPr>
              <a:t>Part 2</a:t>
            </a:r>
          </a:p>
          <a:p>
            <a:r>
              <a:rPr sz="1300">
                <a:solidFill>
                  <a:srgbClr val="2D3741"/>
                </a:solidFill>
              </a:rPr>
              <a:t>Build the weekly process that keeps the insight current.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251960"/>
            <a:ext cx="4572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38912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E9137"/>
                </a:solidFill>
              </a:rPr>
              <a:t>Core idea</a:t>
            </a:r>
          </a:p>
          <a:p>
            <a:r>
              <a:rPr sz="1300">
                <a:solidFill>
                  <a:srgbClr val="2D3741"/>
                </a:solidFill>
              </a:rPr>
              <a:t>CSV = historical baseline | JSON = current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Data and analytical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One continuous story from historical context to weekly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00200"/>
            <a:ext cx="2926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A5D8C"/>
                </a:solidFill>
              </a:rPr>
              <a:t>Historical CSV</a:t>
            </a:r>
          </a:p>
          <a:p>
            <a:r>
              <a:rPr sz="1300">
                <a:solidFill>
                  <a:srgbClr val="2D3741"/>
                </a:solidFill>
              </a:rPr>
              <a:t>Jan–Jun 2026
107,836 transactions
12 stores • 5 categories</a:t>
            </a:r>
          </a:p>
          <a:p>
            <a:r>
              <a:rPr sz="1200" b="1">
                <a:solidFill>
                  <a:srgbClr val="6E7882"/>
                </a:solidFill>
              </a:rP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375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00200"/>
            <a:ext cx="2926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08282"/>
                </a:solidFill>
              </a:rPr>
              <a:t>Clean weekly JSON</a:t>
            </a:r>
          </a:p>
          <a:p>
            <a:r>
              <a:rPr sz="1300">
                <a:solidFill>
                  <a:srgbClr val="2D3741"/>
                </a:solidFill>
              </a:rPr>
              <a:t>Jun 24–30, 2026
4,291 records
Simulated API response</a:t>
            </a:r>
          </a:p>
          <a:p>
            <a:r>
              <a:rPr sz="1200" b="1">
                <a:solidFill>
                  <a:srgbClr val="6E7882"/>
                </a:solidFill>
              </a:rPr>
              <a:t>Current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375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600200"/>
            <a:ext cx="2926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E4646"/>
                </a:solidFill>
              </a:rPr>
              <a:t>Corrupt weekly JSON</a:t>
            </a:r>
          </a:p>
          <a:p>
            <a:r>
              <a:rPr sz="1300">
                <a:solidFill>
                  <a:srgbClr val="2D3741"/>
                </a:solidFill>
              </a:rPr>
              <a:t>Same period
3 intentional data-quality issues</a:t>
            </a:r>
          </a:p>
          <a:p>
            <a:r>
              <a:rPr sz="1200" b="1">
                <a:solidFill>
                  <a:srgbClr val="6E7882"/>
                </a:solidFill>
              </a:rPr>
              <a:t>Validation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33087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5D8C"/>
                </a:solidFill>
              </a:rPr>
              <a:t>Explore</a:t>
            </a:r>
          </a:p>
          <a:p>
            <a:r>
              <a:rPr sz="1000">
                <a:solidFill>
                  <a:srgbClr val="2D3741"/>
                </a:solidFill>
              </a:rPr>
              <a:t>Historical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1" y="3977639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4133087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E9137"/>
                </a:solidFill>
              </a:rPr>
              <a:t>Baseline</a:t>
            </a:r>
          </a:p>
          <a:p>
            <a:r>
              <a:rPr sz="1000">
                <a:solidFill>
                  <a:srgbClr val="2D3741"/>
                </a:solidFill>
              </a:rPr>
              <a:t>Normal weekly 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3977639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4133087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E4646"/>
                </a:solidFill>
              </a:rPr>
              <a:t>Validate</a:t>
            </a:r>
          </a:p>
          <a:p>
            <a:r>
              <a:rPr sz="1000">
                <a:solidFill>
                  <a:srgbClr val="2D3741"/>
                </a:solidFill>
              </a:rPr>
              <a:t>Protect data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3977639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3" y="4133087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08282"/>
                </a:solidFill>
              </a:rPr>
              <a:t>Transform</a:t>
            </a:r>
          </a:p>
          <a:p>
            <a:r>
              <a:rPr sz="1000">
                <a:solidFill>
                  <a:srgbClr val="2D3741"/>
                </a:solidFill>
              </a:rPr>
              <a:t>Store + category 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3977639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46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5" y="4133087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6825F"/>
                </a:solidFill>
              </a:rPr>
              <a:t>Pulse</a:t>
            </a:r>
          </a:p>
          <a:p>
            <a:r>
              <a:rPr sz="1000">
                <a:solidFill>
                  <a:srgbClr val="2D3741"/>
                </a:solidFill>
              </a:rPr>
              <a:t>Actionable weekly summary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Overall sales weakened toward June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Monthly revenue fell from ₹8.48 crore in January to ₹6.93 crore in June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1 — EDA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4173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508760"/>
            <a:ext cx="27432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64008" cy="10515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19" y="1627631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₹8.48 Cr</a:t>
            </a:r>
          </a:p>
          <a:p>
            <a:r>
              <a:rPr sz="1050">
                <a:solidFill>
                  <a:srgbClr val="6E7882"/>
                </a:solidFill>
              </a:rPr>
              <a:t>January — highest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788920"/>
            <a:ext cx="27432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2788920"/>
            <a:ext cx="64008" cy="1051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2907791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₹6.93 Cr</a:t>
            </a:r>
          </a:p>
          <a:p>
            <a:r>
              <a:rPr sz="1050">
                <a:solidFill>
                  <a:srgbClr val="6E7882"/>
                </a:solidFill>
              </a:rPr>
              <a:t>June — lowest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069080"/>
            <a:ext cx="27432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4069080"/>
            <a:ext cx="64008" cy="10515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19" y="4187952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↓ 18.3%</a:t>
            </a:r>
          </a:p>
          <a:p>
            <a:r>
              <a:rPr sz="1050">
                <a:solidFill>
                  <a:srgbClr val="6E7882"/>
                </a:solidFill>
              </a:rPr>
              <a:t>Jan → Jun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44068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3741"/>
                </a:solidFill>
              </a:rPr>
              <a:t>Business signal: investigate what changed as the business moved into June.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Store performance is highly uneven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S01 leads the six-month period; S12 is the weakest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1 — EDA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731520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66760" y="1463040"/>
            <a:ext cx="283464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463040"/>
            <a:ext cx="64008" cy="109728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581912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₹5.91 Cr</a:t>
            </a:r>
          </a:p>
          <a:p>
            <a:r>
              <a:rPr sz="1050">
                <a:solidFill>
                  <a:srgbClr val="6E7882"/>
                </a:solidFill>
              </a:rPr>
              <a:t>S01 Vijayawada — #1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834640"/>
            <a:ext cx="283464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2834640"/>
            <a:ext cx="64008" cy="10972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953512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₹2.20 Cr</a:t>
            </a:r>
          </a:p>
          <a:p>
            <a:r>
              <a:rPr sz="1050">
                <a:solidFill>
                  <a:srgbClr val="6E7882"/>
                </a:solidFill>
              </a:rPr>
              <a:t>S12 Kakinada — #12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06240"/>
            <a:ext cx="283464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4206240"/>
            <a:ext cx="64008" cy="109728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325112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2.69×</a:t>
            </a:r>
          </a:p>
          <a:p>
            <a:r>
              <a:rPr sz="1050">
                <a:solidFill>
                  <a:srgbClr val="6E7882"/>
                </a:solidFill>
              </a:rPr>
              <a:t>Top vs bottom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532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3741"/>
                </a:solidFill>
              </a:rPr>
              <a:t>Implication: store-specific actions are more useful than a one-size-fits-all promotion.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Category trends point to a clear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Electronics is the steepest decline; Apparel is the strongest growth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1 — EDA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280160"/>
          <a:ext cx="77724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41080" y="1417320"/>
            <a:ext cx="26974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417320"/>
            <a:ext cx="64008" cy="1051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59" y="1536192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−35%</a:t>
            </a:r>
          </a:p>
          <a:p>
            <a:r>
              <a:rPr sz="1050">
                <a:solidFill>
                  <a:srgbClr val="6E7882"/>
                </a:solidFill>
              </a:rPr>
              <a:t>Electronics Jan → Jun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743200"/>
            <a:ext cx="26974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2743200"/>
            <a:ext cx="64008" cy="1051560"/>
          </a:xfrm>
          <a:prstGeom prst="rect">
            <a:avLst/>
          </a:prstGeom>
          <a:solidFill>
            <a:srgbClr val="46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59" y="2862072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+34%</a:t>
            </a:r>
          </a:p>
          <a:p>
            <a:r>
              <a:rPr sz="1050">
                <a:solidFill>
                  <a:srgbClr val="6E7882"/>
                </a:solidFill>
              </a:rPr>
              <a:t>Apparel Jan → Jun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069080"/>
            <a:ext cx="26974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4069080"/>
            <a:ext cx="64008" cy="1051560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59" y="4187952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~+2%</a:t>
            </a:r>
          </a:p>
          <a:p>
            <a:r>
              <a:rPr sz="1050">
                <a:solidFill>
                  <a:srgbClr val="6E7882"/>
                </a:solidFill>
              </a:rPr>
              <a:t>Personal Care —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440680"/>
            <a:ext cx="2743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3741"/>
                </a:solidFill>
              </a:rPr>
              <a:t>Business question: is the Electronics decline driven by inventory, pricing, promotions, or competition?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Timing and anomalies add operational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Saturday is strongest; Monday is weakest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1 — EDA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2588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463040"/>
            <a:ext cx="18288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463040"/>
            <a:ext cx="64008" cy="960120"/>
          </a:xfrm>
          <a:prstGeom prst="rect">
            <a:avLst/>
          </a:prstGeom>
          <a:solidFill>
            <a:srgbClr val="46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158191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₹35.24 L</a:t>
            </a:r>
          </a:p>
          <a:p>
            <a:r>
              <a:rPr sz="1050">
                <a:solidFill>
                  <a:srgbClr val="6E7882"/>
                </a:solidFill>
              </a:rPr>
              <a:t>Saturday — strongest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463040"/>
            <a:ext cx="18288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46920" y="1463040"/>
            <a:ext cx="64008" cy="9601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158191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₹20.12 L</a:t>
            </a:r>
          </a:p>
          <a:p>
            <a:r>
              <a:rPr sz="1050">
                <a:solidFill>
                  <a:srgbClr val="6E7882"/>
                </a:solidFill>
              </a:rPr>
              <a:t>Monday — weakest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7432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238"/>
                </a:solidFill>
              </a:rPr>
              <a:t>4 store-weeks flagged below −2σ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154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S02 Vijayawada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5468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May 18–24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31546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₹11.73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72160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S04 Guntur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72160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Jun 8–14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721608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₹11.37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28853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S05 Rajahmundry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288536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Feb 9–15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4288536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₹6.56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85546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S10 Nellore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855464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Apr 6–12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4855464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₹5.06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5321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882"/>
                </a:solidFill>
              </a:rPr>
              <a:t>These are investigation triggers—not automatic root causes.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What should the business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Translate the analysis into one focused Q3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1 —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64008" cy="1143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#1 priority</a:t>
            </a:r>
          </a:p>
          <a:p>
            <a:r>
              <a:rPr sz="1050">
                <a:solidFill>
                  <a:srgbClr val="6E7882"/>
                </a:solidFill>
              </a:rPr>
              <a:t>Investigate Electronics decline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32461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4008" cy="114300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S12 Kakinada</a:t>
            </a:r>
          </a:p>
          <a:p>
            <a:r>
              <a:rPr sz="1050">
                <a:solidFill>
                  <a:srgbClr val="6E7882"/>
                </a:solidFill>
              </a:rPr>
              <a:t>Review the weakest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60520"/>
            <a:ext cx="32461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160520"/>
            <a:ext cx="64008" cy="1143000"/>
          </a:xfrm>
          <a:prstGeom prst="rect">
            <a:avLst/>
          </a:prstGeom>
          <a:solidFill>
            <a:srgbClr val="30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Monday</a:t>
            </a:r>
          </a:p>
          <a:p>
            <a:r>
              <a:rPr sz="1050">
                <a:solidFill>
                  <a:srgbClr val="6E7882"/>
                </a:solidFill>
              </a:rPr>
              <a:t>Test a targeted flash promotion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• Investigate Electronics before allocating additional Q3 promotional spend.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• Review inventory availability, promotions, pricing and competitor activity.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• Use store-level differences to avoid applying the same intervention everywhere.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• Add inventory, promotion, local-event and competitor data to improve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Part 2 turns the analysis into a weekly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Validate first. Transform second. Report only trusted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2 —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508760"/>
            <a:ext cx="502920" cy="502920"/>
          </a:xfrm>
          <a:prstGeom prst="ellipse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9202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5D8C"/>
                </a:solidFill>
              </a:rPr>
              <a:t>Ingest</a:t>
            </a:r>
          </a:p>
          <a:p>
            <a:r>
              <a:rPr sz="1100">
                <a:solidFill>
                  <a:srgbClr val="2D3741"/>
                </a:solidFill>
              </a:rPr>
              <a:t>Weekly JSON API payload</a:t>
            </a:r>
          </a:p>
        </p:txBody>
      </p:sp>
      <p:sp>
        <p:nvSpPr>
          <p:cNvPr id="11" name="Oval 10"/>
          <p:cNvSpPr/>
          <p:nvPr/>
        </p:nvSpPr>
        <p:spPr>
          <a:xfrm>
            <a:off x="3502152" y="1508760"/>
            <a:ext cx="502920" cy="502920"/>
          </a:xfrm>
          <a:prstGeom prst="ellipse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6002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148840"/>
            <a:ext cx="19202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233172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E4646"/>
                </a:solidFill>
              </a:rPr>
              <a:t>Validate</a:t>
            </a:r>
          </a:p>
          <a:p>
            <a:r>
              <a:rPr sz="1100">
                <a:solidFill>
                  <a:srgbClr val="2D3741"/>
                </a:solidFill>
              </a:rPr>
              <a:t>Nulls • revenue ≤ 0 • store IDs</a:t>
            </a:r>
          </a:p>
        </p:txBody>
      </p:sp>
      <p:sp>
        <p:nvSpPr>
          <p:cNvPr id="15" name="Oval 14"/>
          <p:cNvSpPr/>
          <p:nvPr/>
        </p:nvSpPr>
        <p:spPr>
          <a:xfrm>
            <a:off x="5815583" y="1508760"/>
            <a:ext cx="502920" cy="502920"/>
          </a:xfrm>
          <a:prstGeom prst="ellipse">
            <a:avLst/>
          </a:prstGeom>
          <a:solidFill>
            <a:srgbClr val="30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5583" y="16002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3" y="2148840"/>
            <a:ext cx="19202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33172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08282"/>
                </a:solidFill>
              </a:rPr>
              <a:t>Transform</a:t>
            </a:r>
          </a:p>
          <a:p>
            <a:r>
              <a:rPr sz="1100">
                <a:solidFill>
                  <a:srgbClr val="2D3741"/>
                </a:solidFill>
              </a:rPr>
              <a:t>Store + category revenue</a:t>
            </a:r>
          </a:p>
        </p:txBody>
      </p:sp>
      <p:sp>
        <p:nvSpPr>
          <p:cNvPr id="19" name="Oval 18"/>
          <p:cNvSpPr/>
          <p:nvPr/>
        </p:nvSpPr>
        <p:spPr>
          <a:xfrm>
            <a:off x="8129016" y="1508760"/>
            <a:ext cx="502920" cy="502920"/>
          </a:xfrm>
          <a:prstGeom prst="ellipse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6002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6" y="2148840"/>
            <a:ext cx="19202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6" y="233172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E9137"/>
                </a:solidFill>
              </a:rPr>
              <a:t>Compare</a:t>
            </a:r>
          </a:p>
          <a:p>
            <a:r>
              <a:rPr sz="1100">
                <a:solidFill>
                  <a:srgbClr val="2D3741"/>
                </a:solidFill>
              </a:rPr>
              <a:t>Current week vs historical CSV baseline</a:t>
            </a:r>
          </a:p>
        </p:txBody>
      </p:sp>
      <p:sp>
        <p:nvSpPr>
          <p:cNvPr id="23" name="Oval 22"/>
          <p:cNvSpPr/>
          <p:nvPr/>
        </p:nvSpPr>
        <p:spPr>
          <a:xfrm>
            <a:off x="10442448" y="1508760"/>
            <a:ext cx="502920" cy="502920"/>
          </a:xfrm>
          <a:prstGeom prst="ellipse">
            <a:avLst/>
          </a:prstGeom>
          <a:solidFill>
            <a:srgbClr val="46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16002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2148840"/>
            <a:ext cx="19202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8" y="233172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825F"/>
                </a:solidFill>
              </a:rPr>
              <a:t>Summarize</a:t>
            </a:r>
          </a:p>
          <a:p>
            <a:r>
              <a:rPr sz="1100">
                <a:solidFill>
                  <a:srgbClr val="2D3741"/>
                </a:solidFill>
              </a:rPr>
              <a:t>Top/bottom store + category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60520"/>
            <a:ext cx="10744200" cy="1234440"/>
          </a:xfrm>
          <a:prstGeom prst="roundRect">
            <a:avLst/>
          </a:prstGeom>
          <a:solidFill>
            <a:srgbClr val="FCF6F6"/>
          </a:solidFill>
          <a:ln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70832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4646"/>
                </a:solidFill>
              </a:rPr>
              <a:t>Validation result: 3 issues → HALT</a:t>
            </a:r>
          </a:p>
          <a:p>
            <a:r>
              <a:rPr sz="1200">
                <a:solidFill>
                  <a:srgbClr val="2D3741"/>
                </a:solidFill>
              </a:rPr>
              <a:t>TXN103558: null units_sold  •  TXN103551: −₹150 revenue  •  TXN103566: invalid store S99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The automated weekly pulse is actionable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7882"/>
                </a:solidFill>
              </a:rPr>
              <a:t>June 24–30: one category requires immediate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4747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A5D8C"/>
                </a:solidFill>
              </a:rPr>
              <a:t>PART 2 — RESULT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280160"/>
          <a:ext cx="6492240" cy="5166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417320"/>
            <a:ext cx="1874519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417320"/>
            <a:ext cx="64008" cy="960120"/>
          </a:xfrm>
          <a:prstGeom prst="rect">
            <a:avLst/>
          </a:prstGeom>
          <a:solidFill>
            <a:srgbClr val="46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536192"/>
            <a:ext cx="160019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S03</a:t>
            </a:r>
          </a:p>
          <a:p>
            <a:r>
              <a:rPr sz="1050">
                <a:solidFill>
                  <a:srgbClr val="6E7882"/>
                </a:solidFill>
              </a:rPr>
              <a:t>Top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417320"/>
            <a:ext cx="1874519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4040" y="1417320"/>
            <a:ext cx="64008" cy="9601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19" y="1536192"/>
            <a:ext cx="160019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S10</a:t>
            </a:r>
          </a:p>
          <a:p>
            <a:r>
              <a:rPr sz="1050">
                <a:solidFill>
                  <a:srgbClr val="6E7882"/>
                </a:solidFill>
              </a:rPr>
              <a:t>Bottom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743200"/>
            <a:ext cx="39319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743200"/>
            <a:ext cx="64008" cy="1051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2862072"/>
            <a:ext cx="3657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238"/>
                </a:solidFill>
              </a:rPr>
              <a:t>−34.2%</a:t>
            </a:r>
          </a:p>
          <a:p>
            <a:r>
              <a:rPr sz="1050">
                <a:solidFill>
                  <a:srgbClr val="6E7882"/>
                </a:solidFill>
              </a:rPr>
              <a:t>Electronics vs historical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160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Electronics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BE4646"/>
                </a:solidFill>
              </a:rPr>
              <a:t>₹57.65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5537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Apparel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553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D3741"/>
                </a:solidFill>
              </a:rPr>
              <a:t>₹32.29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94690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Home &amp; Kitchen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494690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D3741"/>
                </a:solidFill>
              </a:rPr>
              <a:t>₹28.47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34009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Grocery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534009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D3741"/>
                </a:solidFill>
              </a:rPr>
              <a:t>₹16.17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7332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D3741"/>
                </a:solidFill>
              </a:rPr>
              <a:t>Personal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57332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D3741"/>
                </a:solidFill>
              </a:rPr>
              <a:t>₹15.58 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7882"/>
                </a:solidFill>
              </a:rPr>
              <a:t>Calibo AI Academy | Retail Sales Pulse — From Analysis to Pipeline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08282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727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Sales weakened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581912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DD7E1"/>
                </a:solidFill>
              </a:rPr>
              <a:t>June revenue was ₹6.93 Cr vs ₹8.48 Cr in January.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08282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7004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Electronics is the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679192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DD7E1"/>
                </a:solidFill>
              </a:rPr>
              <a:t>~35% six-month decline and 34.2% below weekly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08282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6732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Store performance differs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776472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DD7E1"/>
                </a:solidFill>
              </a:rPr>
              <a:t>S01 leads at ₹5.91 Cr; S12 is lowest at ₹2.20 Cr.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08282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64607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Automation makes it repeatable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4873752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DD7E1"/>
                </a:solidFill>
              </a:rPr>
              <a:t>Weekly JSON is validated, compared with history, and summarized.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From one-time analysis to a reliable weekly retail decision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