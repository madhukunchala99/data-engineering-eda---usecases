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52760" y="0"/>
            <a:ext cx="1536192" cy="6858000"/>
          </a:xfrm>
          <a:prstGeom prst="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91440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79941"/>
                </a:solidFill>
                <a:latin typeface="Aptos"/>
              </a:defRPr>
            </a:pPr>
            <a:r>
              <a:rPr dirty="0"/>
              <a:t>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7772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E-commerce Customer</a:t>
            </a:r>
            <a:br/>
            <a: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2608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8E2EB"/>
                </a:solidFill>
                <a:latin typeface="Aptos"/>
              </a:defRPr>
            </a:pPr>
            <a:r>
              <a:rPr dirty="0"/>
              <a:t>From raw customer data to clear business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343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ECCDA"/>
                </a:solidFill>
                <a:latin typeface="Aptos"/>
              </a:defRPr>
            </a:pPr>
            <a:r>
              <a:t>3,055 orders  •  32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70916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ECCDA"/>
                </a:solidFill>
                <a:latin typeface="Aptos"/>
              </a:defRPr>
            </a:pPr>
            <a:r>
              <a:t>Focus: data understanding, cleaning and 3 problem statements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A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EBECC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AEBEC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EBA6E-AF62-67B6-F476-6029B7334022}"/>
              </a:ext>
            </a:extLst>
          </p:cNvPr>
          <p:cNvSpPr txBox="1"/>
          <p:nvPr/>
        </p:nvSpPr>
        <p:spPr>
          <a:xfrm>
            <a:off x="768096" y="5217984"/>
            <a:ext cx="42519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1">
                <a:solidFill>
                  <a:srgbClr val="C79941"/>
                </a:solidFill>
                <a:latin typeface="Aptos"/>
              </a:defRPr>
            </a:pPr>
            <a:r>
              <a:rPr lang="en-IN" dirty="0"/>
              <a:t>Presenting by: </a:t>
            </a:r>
          </a:p>
          <a:p>
            <a:pPr>
              <a:defRPr sz="1600" b="0">
                <a:solidFill>
                  <a:srgbClr val="D8E2EB"/>
                </a:solidFill>
                <a:latin typeface="Aptos"/>
              </a:defRPr>
            </a:pPr>
            <a:r>
              <a:rPr lang="en-US" dirty="0"/>
              <a:t>Madhu Kunchala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01 • 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From raw data to business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The presentation follows the same journey I used in the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199339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1874519"/>
            <a:ext cx="457200" cy="457200"/>
          </a:xfrm>
          <a:prstGeom prst="round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514600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62234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999232"/>
            <a:ext cx="1664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1">
                <a:solidFill>
                  <a:srgbClr val="2A333F"/>
                </a:solidFill>
                <a:latin typeface="Aptos"/>
              </a:defRPr>
            </a:pPr>
            <a:r>
              <a:t>First, I understand the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794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B6978"/>
                </a:solidFill>
                <a:latin typeface="Aptos"/>
              </a:defRPr>
            </a:pPr>
            <a:r>
              <a:t>Size • columns • data types •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7889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691640"/>
            <a:ext cx="199339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44952" y="1874519"/>
            <a:ext cx="457200" cy="457200"/>
          </a:xfrm>
          <a:prstGeom prst="round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44952" y="199339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2" y="2514600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62234"/>
                </a:solidFill>
                <a:latin typeface="Aptos"/>
              </a:defRPr>
            </a:pPr>
            <a:r>
              <a:t>CHECK &amp;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999232"/>
            <a:ext cx="1664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1">
                <a:solidFill>
                  <a:srgbClr val="2A333F"/>
                </a:solidFill>
                <a:latin typeface="Aptos"/>
              </a:defRPr>
            </a:pPr>
            <a:r>
              <a:t>Then, I check data quality.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794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B6978"/>
                </a:solidFill>
                <a:latin typeface="Aptos"/>
              </a:defRPr>
            </a:pPr>
            <a:r>
              <a:t>Missing values • duplicates • inconsistent labels • invalid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27889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1691640"/>
            <a:ext cx="199339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30952" y="1874519"/>
            <a:ext cx="457200" cy="457200"/>
          </a:xfrm>
          <a:prstGeom prst="round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30952" y="199339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514600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62234"/>
                </a:solidFill>
                <a:latin typeface="Aptos"/>
              </a:defRPr>
            </a:pPr>
            <a:r>
              <a:t>SET UP THE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2999232"/>
            <a:ext cx="1664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1">
                <a:solidFill>
                  <a:srgbClr val="2A333F"/>
                </a:solidFill>
                <a:latin typeface="Aptos"/>
              </a:defRPr>
            </a:pPr>
            <a:r>
              <a:t>Next, I identify only the variables needed for each problem statement.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3794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B6978"/>
                </a:solidFill>
                <a:latin typeface="Aptos"/>
              </a:defRPr>
            </a:pPr>
            <a:r>
              <a:t>Question → required fields → relevant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4" y="27889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1691640"/>
            <a:ext cx="199339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616952" y="1874519"/>
            <a:ext cx="457200" cy="457200"/>
          </a:xfrm>
          <a:prstGeom prst="roundRect">
            <a:avLst/>
          </a:prstGeom>
          <a:solidFill>
            <a:srgbClr val="3F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16952" y="199339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2514600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62234"/>
                </a:solidFill>
                <a:latin typeface="Aptos"/>
              </a:defRPr>
            </a:pPr>
            <a:r>
              <a:t>ANALYZE &amp; 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2999232"/>
            <a:ext cx="1664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1">
                <a:solidFill>
                  <a:srgbClr val="2A333F"/>
                </a:solidFill>
                <a:latin typeface="Aptos"/>
              </a:defRPr>
            </a:pPr>
            <a:r>
              <a:t>I calculate and compare the required averages.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3794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B6978"/>
                </a:solidFill>
                <a:latin typeface="Aptos"/>
              </a:defRPr>
            </a:pPr>
            <a:r>
              <a:t>Code → graph → result → interpretation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7889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1691640"/>
            <a:ext cx="199339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902952" y="1874519"/>
            <a:ext cx="457200" cy="457200"/>
          </a:xfrm>
          <a:prstGeom prst="round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02952" y="199339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2514600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62234"/>
                </a:solidFill>
                <a:latin typeface="Aptos"/>
              </a:defRPr>
            </a:pPr>
            <a:r>
              <a:t>CONCLUDE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2999232"/>
            <a:ext cx="1664208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1">
                <a:solidFill>
                  <a:srgbClr val="2A333F"/>
                </a:solidFill>
                <a:latin typeface="Aptos"/>
              </a:defRPr>
            </a:pPr>
            <a:r>
              <a:t>Finally, I connect the three findings.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2952" y="3794760"/>
            <a:ext cx="16642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B6978"/>
                </a:solidFill>
                <a:latin typeface="Aptos"/>
              </a:defRPr>
            </a:pPr>
            <a:r>
              <a:t>Key findings → recommendations → conclusion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89204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WHAT I WANT THE AUDIENCE TO SEE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21208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62234"/>
                </a:solidFill>
                <a:latin typeface="Aptos"/>
              </a:defRPr>
            </a:pPr>
            <a:r>
              <a:t>I do not start with the answers. I first make the data understandable and reliable, then use it to answer three focused business questions.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F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02 •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Commands I used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These commands help me understand what I am working with before making any business conclusion.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148840" cy="59436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1965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E7EDF3"/>
                </a:solidFill>
                <a:latin typeface="Consolas"/>
              </a:defRPr>
            </a:pPr>
            <a:r>
              <a:t>df.head()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1907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Preview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700784"/>
            <a:ext cx="5943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B6978"/>
                </a:solidFill>
                <a:latin typeface="Aptos"/>
              </a:defRPr>
            </a:pPr>
            <a:r>
              <a:t>See what one order looks like.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23744"/>
            <a:ext cx="2148840" cy="59436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697479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E7EDF3"/>
                </a:solidFill>
                <a:latin typeface="Consolas"/>
              </a:defRPr>
            </a:pPr>
            <a:r>
              <a:t>df.shape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96896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Check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78608"/>
            <a:ext cx="5943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B6978"/>
                </a:solidFill>
                <a:latin typeface="Aptos"/>
              </a:defRPr>
            </a:pPr>
            <a:r>
              <a:t>Shows 3,055 rows and 32 columns.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01568"/>
            <a:ext cx="2148840" cy="59436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575303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E7EDF3"/>
                </a:solidFill>
                <a:latin typeface="Consolas"/>
              </a:defRPr>
            </a:pPr>
            <a:r>
              <a:t>df.info()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Check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456432"/>
            <a:ext cx="5943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B6978"/>
                </a:solidFill>
                <a:latin typeface="Aptos"/>
              </a:defRPr>
            </a:pPr>
            <a:r>
              <a:t>Shows column names, data types and non-null counts.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79392"/>
            <a:ext cx="2148840" cy="59436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4531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E7EDF3"/>
                </a:solidFill>
                <a:latin typeface="Consolas"/>
              </a:defRPr>
            </a:pPr>
            <a:r>
              <a:t>df.describe()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52544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Summarize numeric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334255"/>
            <a:ext cx="5943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B6978"/>
                </a:solidFill>
                <a:latin typeface="Aptos"/>
              </a:defRPr>
            </a:pPr>
            <a:r>
              <a:t>Shows count, mean, minimum, maximum and spread.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57216"/>
            <a:ext cx="2148840" cy="59436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533095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E7EDF3"/>
                </a:solidFill>
                <a:latin typeface="Consolas"/>
              </a:defRPr>
            </a:pPr>
            <a:r>
              <a:t>df.columns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23036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Identify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212079"/>
            <a:ext cx="5943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5B6978"/>
                </a:solidFill>
                <a:latin typeface="Aptos"/>
              </a:defRPr>
            </a:pPr>
            <a:r>
              <a:t>Shows the variables available for analysis.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03 •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What did I check before cleaning?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The purpose was to avoid letting obvious data-quality problems affect the three comparisons.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64208"/>
            <a:ext cx="50292" cy="1234440"/>
          </a:xfrm>
          <a:prstGeom prst="rect">
            <a:avLst/>
          </a:prstGeom>
          <a:solidFill>
            <a:srgbClr val="A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2103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9424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210312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Repeated rows can count the same order more than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664208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1664208"/>
            <a:ext cx="50292" cy="123444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02736" y="1801368"/>
            <a:ext cx="2103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249424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560320"/>
            <a:ext cx="210312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Important fields such as Profit and Net_Sales may be unavailable.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1616" y="1664208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71616" y="1664208"/>
            <a:ext cx="50292" cy="1234440"/>
          </a:xfrm>
          <a:prstGeom prst="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3" y="1801368"/>
            <a:ext cx="2103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2249424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2560320"/>
            <a:ext cx="210312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Labels can contain spaces or different capitalization.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41664" y="1664208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41664" y="1664208"/>
            <a:ext cx="50292" cy="1234440"/>
          </a:xfrm>
          <a:prstGeom prst="rect">
            <a:avLst/>
          </a:prstGeom>
          <a:solidFill>
            <a:srgbClr val="A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42832" y="1801368"/>
            <a:ext cx="2103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249424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Invalid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560320"/>
            <a:ext cx="210312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Age, discount, quantity, shipping and rating need logical ranges.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246120"/>
            <a:ext cx="5166360" cy="214884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337560"/>
            <a:ext cx="485546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C79941"/>
                </a:solidFill>
                <a:latin typeface="Aptos"/>
              </a:defRPr>
            </a:pPr>
            <a:r>
              <a:t>QUALITY-CHECK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593591"/>
            <a:ext cx="4855464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df.isnull().sum().sort_values(ascending=False)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df.duplicated().sum()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df_clean.duplicated().sum()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df_clean.duplicated().sum()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missing = df_clean.isnull().sum()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missing[missing &gt; 0].sort_values(ascending=False)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10128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62234"/>
                </a:solidFill>
                <a:latin typeface="Aptos"/>
              </a:defRPr>
            </a:pPr>
            <a:r>
              <a:t>How I explain this slide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30752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33F"/>
                </a:solidFill>
                <a:latin typeface="Aptos"/>
              </a:defRPr>
            </a:pPr>
            <a:r>
              <a:t>“Before analysis, I checked whether the data was complete, repeated, consistently labelled and logically valid. This makes the later averages more trustworthy.”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074920"/>
            <a:ext cx="3657600" cy="292608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5138928"/>
            <a:ext cx="3657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A7D"/>
                </a:solidFill>
                <a:latin typeface="Aptos"/>
              </a:defRPr>
            </a:pPr>
            <a:r>
              <a:t>Goal: clean first → analyze second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04 •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Cleaning commands: what they do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I kept the cleaning targeted. I did not invent replacement values just to fill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2743200" cy="576072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1764792"/>
            <a:ext cx="2423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E7EDF3"/>
                </a:solidFill>
                <a:latin typeface="Consolas"/>
              </a:defRPr>
            </a:pPr>
            <a:r>
              <a:t>pd.to_datetime()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16733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62234"/>
                </a:solidFill>
                <a:latin typeface="Aptos"/>
              </a:defRPr>
            </a:pPr>
            <a:r>
              <a:t>Convert Order_Date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645920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Makes the date a real datetime field instead of plain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50592"/>
            <a:ext cx="2743200" cy="576072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615184"/>
            <a:ext cx="2423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E7EDF3"/>
                </a:solidFill>
                <a:latin typeface="Consolas"/>
              </a:defRPr>
            </a:pPr>
            <a:r>
              <a:t>.str.strip()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523744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62234"/>
                </a:solidFill>
                <a:latin typeface="Aptos"/>
              </a:defRPr>
            </a:pPr>
            <a:r>
              <a:t>Remove extra spaces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496312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Prevents the same label being treated as different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00984"/>
            <a:ext cx="2743200" cy="576072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465576"/>
            <a:ext cx="2423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E7EDF3"/>
                </a:solidFill>
                <a:latin typeface="Consolas"/>
              </a:defRPr>
            </a:pPr>
            <a:r>
              <a:t>.str.lower()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374136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62234"/>
                </a:solidFill>
                <a:latin typeface="Aptos"/>
              </a:defRPr>
            </a:pPr>
            <a:r>
              <a:t>Standardize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346704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Makes selected categorical values consistent.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51376"/>
            <a:ext cx="2743200" cy="576072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315968"/>
            <a:ext cx="2423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E7EDF3"/>
                </a:solidFill>
                <a:latin typeface="Consolas"/>
              </a:defRPr>
            </a:pPr>
            <a:r>
              <a:t>drop_duplicates()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42245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62234"/>
                </a:solidFill>
                <a:latin typeface="Aptos"/>
              </a:defRPr>
            </a:pPr>
            <a:r>
              <a:t>Remove repeated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197096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Stops duplicate orders from affecting averages.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5001768"/>
            <a:ext cx="2743200" cy="576072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5166360"/>
            <a:ext cx="2423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E7EDF3"/>
                </a:solidFill>
                <a:latin typeface="Consolas"/>
              </a:defRPr>
            </a:pPr>
            <a:r>
              <a:t>range checks → NaN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5074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62234"/>
                </a:solidFill>
                <a:latin typeface="Aptos"/>
              </a:defRPr>
            </a:pPr>
            <a:r>
              <a:t>Handle impossible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5047488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978"/>
                </a:solidFill>
                <a:latin typeface="Aptos"/>
              </a:defRPr>
            </a:pPr>
            <a:r>
              <a:t>Invalid age, discount, quantity, shipping days and ratings are not treated as real values.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05 •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After cleaning: ready for the three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The notebook reduces the raw data from 3,055 rows to 3,005 after duplicate removal, then each question uses the fields it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50292" cy="1417320"/>
          </a:xfrm>
          <a:prstGeom prst="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74519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3,055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22576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Raw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33472"/>
            <a:ext cx="26974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Orders before duplicate removal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73736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62856" y="1737360"/>
            <a:ext cx="50292" cy="1417320"/>
          </a:xfrm>
          <a:prstGeom prst="rect">
            <a:avLst/>
          </a:prstGeom>
          <a:solidFill>
            <a:srgbClr val="A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64024" y="1874519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2322576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Duplicate removal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2633472"/>
            <a:ext cx="26974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Repeated rows removed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8472" y="173736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48472" y="1737360"/>
            <a:ext cx="50292" cy="1417320"/>
          </a:xfrm>
          <a:prstGeom prst="rect">
            <a:avLst/>
          </a:prstGeom>
          <a:solidFill>
            <a:srgbClr val="3F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1874519"/>
            <a:ext cx="269748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3,005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322576"/>
            <a:ext cx="2697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Clean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633472"/>
            <a:ext cx="26974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Rows remaining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49039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B598B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6850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749039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77A7D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850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749039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C79941"/>
                </a:solidFill>
                <a:latin typeface="Aptos"/>
              </a:defRPr>
            </a:pPr>
            <a:r>
              <a:t>QUESTION-SPECIFIC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B598B"/>
                </a:solidFill>
                <a:latin typeface="Aptos"/>
              </a:defRPr>
            </a:pPr>
            <a:r>
              <a:t>Speaker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535424"/>
            <a:ext cx="9235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A333F"/>
                </a:solidFill>
                <a:latin typeface="Aptos"/>
              </a:defRPr>
            </a:pPr>
            <a:r>
              <a:t>“Now that the data is prepared, I can move from data quality to the actual business questions.”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06 •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How I approached the 3 problem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After cleaning the data, I used a simple and repeatable process for each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512" y="1847088"/>
            <a:ext cx="411480" cy="411480"/>
          </a:xfrm>
          <a:prstGeom prst="round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38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45059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62234"/>
                </a:solidFill>
                <a:latin typeface="Aptos"/>
              </a:defRPr>
            </a:pPr>
            <a:r>
              <a:t>START WITH 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358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978"/>
                </a:solidFill>
                <a:latin typeface="Aptos"/>
              </a:defRPr>
            </a:pPr>
            <a:r>
              <a:t>What exactly am I trying to find?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5146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664208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17520" y="1847088"/>
            <a:ext cx="411480" cy="411480"/>
          </a:xfrm>
          <a:prstGeom prst="round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938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5059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62234"/>
                </a:solidFill>
                <a:latin typeface="Aptos"/>
              </a:defRPr>
            </a:pPr>
            <a:r>
              <a:t>PICK THE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0358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978"/>
                </a:solidFill>
                <a:latin typeface="Aptos"/>
              </a:defRPr>
            </a:pPr>
            <a:r>
              <a:t>Which category and which metric answer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146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664208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67527" y="1847088"/>
            <a:ext cx="411480" cy="411480"/>
          </a:xfrm>
          <a:prstGeom prst="round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67527" y="1938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7" y="245059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62234"/>
                </a:solidFill>
                <a:latin typeface="Aptos"/>
              </a:defRPr>
            </a:pPr>
            <a:r>
              <a:t>KEEP VALID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7" y="30358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978"/>
                </a:solidFill>
                <a:latin typeface="Aptos"/>
              </a:defRPr>
            </a:pPr>
            <a:r>
              <a:t>Use dropna() for the required fields.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7" y="25146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52944" y="1664208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17536" y="1847088"/>
            <a:ext cx="411480" cy="411480"/>
          </a:xfrm>
          <a:prstGeom prst="roundRect">
            <a:avLst/>
          </a:prstGeom>
          <a:solidFill>
            <a:srgbClr val="3F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7536" y="1938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245059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62234"/>
                </a:solidFill>
                <a:latin typeface="Aptos"/>
              </a:defRPr>
            </a:pPr>
            <a:r>
              <a:t>GROUP &amp; 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30358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978"/>
                </a:solidFill>
                <a:latin typeface="Aptos"/>
              </a:defRPr>
            </a:pPr>
            <a:r>
              <a:t>groupby() the category and mean() the metric.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514600"/>
            <a:ext cx="201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5B69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2952" y="1664208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067544" y="1847088"/>
            <a:ext cx="411480" cy="411480"/>
          </a:xfrm>
          <a:prstGeom prst="round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67544" y="1938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450592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16223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67544" y="303580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B6978"/>
                </a:solidFill>
                <a:latin typeface="Aptos"/>
              </a:defRPr>
            </a:pPr>
            <a:r>
              <a:t>Sort the averages and identify the highest.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160520"/>
            <a:ext cx="10881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B598B"/>
                </a:solidFill>
                <a:latin typeface="Aptos"/>
              </a:defRPr>
            </a:pPr>
            <a:r>
              <a:t>THEN I APPLY THIS PROCESS TO THREE DIFFERENT BUSINESS AREAS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526280"/>
            <a:ext cx="3493008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1" y="468172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B59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6451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PROFITABILITY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50292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A333F"/>
                </a:solidFill>
                <a:latin typeface="Aptos"/>
              </a:defRPr>
            </a:pPr>
            <a:r>
              <a:t>Group by: Marketing 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" y="532180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Compare: Average Profit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07408" y="4526280"/>
            <a:ext cx="3493008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0" y="468172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A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1768" y="46451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CUSTOMER 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0292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A333F"/>
                </a:solidFill>
                <a:latin typeface="Aptos"/>
              </a:defRPr>
            </a:pPr>
            <a:r>
              <a:t>Group by: Customer Segment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32180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Compare: Average Net Sales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4526280"/>
            <a:ext cx="3493008" cy="1234440"/>
          </a:xfrm>
          <a:prstGeom prst="roundRect">
            <a:avLst/>
          </a:prstGeom>
          <a:solidFill>
            <a:srgbClr val="F7F9FB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39327" y="468172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7994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9096" y="464515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62234"/>
                </a:solidFill>
                <a:latin typeface="Aptos"/>
              </a:defRPr>
            </a:pPr>
            <a:r>
              <a:t>CUSTOMER EXPERIENCE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7" y="50292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A333F"/>
                </a:solidFill>
                <a:latin typeface="Aptos"/>
              </a:defRPr>
            </a:pPr>
            <a:r>
              <a:t>Group by: Category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7" y="532180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Compare: Average Customer Satisfaction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CFD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08 • PROBLEM STATEMENT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Which marketing source generates the highest average profit per order?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Main idea: compare average Profit across Marketing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5212080" cy="228600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719072"/>
            <a:ext cx="4901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C79941"/>
                </a:solidFill>
                <a:latin typeface="Aptos"/>
              </a:defRPr>
            </a:pPr>
            <a:r>
              <a:t>MAIN NOTEBOOK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75104"/>
            <a:ext cx="490118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profit_by_source = (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problem1_df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.groupby('Marketing_Source')['Profit']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.mean()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.sort_values(ascending=False)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profit_by_source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6824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62234"/>
                </a:solidFill>
                <a:latin typeface="Aptos"/>
              </a:defRPr>
            </a:pPr>
            <a:r>
              <a:t>How the code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5740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057400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keeps only rows where the required fields are available.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groupby()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54203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creates one group for each marketing source.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02666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mean()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2666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calculates the average profit for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51129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sort_values()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3511296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puts the highest result first so the answer is easy to identify.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160520"/>
            <a:ext cx="3474720" cy="1600200"/>
          </a:xfrm>
          <a:prstGeom prst="roundRect">
            <a:avLst/>
          </a:prstGeom>
          <a:solidFill>
            <a:srgbClr val="F0F7F7"/>
          </a:solidFill>
          <a:ln>
            <a:solidFill>
              <a:srgbClr val="CD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8" y="436168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7A7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6451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62234"/>
                </a:solidFill>
                <a:latin typeface="Aptos Display"/>
              </a:defRPr>
            </a:pPr>
            <a:r>
              <a:t>Social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0109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3F7E5E"/>
                </a:solidFill>
                <a:latin typeface="Aptos"/>
              </a:defRPr>
            </a:pPr>
            <a:r>
              <a:t>₹1,512.52 /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5376672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B6978"/>
                </a:solidFill>
                <a:latin typeface="Aptos"/>
              </a:defRPr>
            </a:pPr>
            <a:r>
              <a:t>Highest among the five sources.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923C696-6552-FA2E-B161-4F3902684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9" y="4114801"/>
            <a:ext cx="5212080" cy="22695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09 • PROBLEM STATEMENT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Which customer segment generates the highest average net sales per order?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Main idea: compare average Net Sales across Customer Segment.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5212080" cy="228600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719072"/>
            <a:ext cx="4901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C79941"/>
                </a:solidFill>
                <a:latin typeface="Aptos"/>
              </a:defRPr>
            </a:pPr>
            <a:r>
              <a:t>MAIN NOTEBOOK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75104"/>
            <a:ext cx="490118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sales_by_segment = (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problem2_df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.groupby('Customer_Segment')['Net_Sales']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.mean()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.sort_values(ascending=False)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sales_by_segment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6824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62234"/>
                </a:solidFill>
                <a:latin typeface="Aptos"/>
              </a:defRPr>
            </a:pPr>
            <a:r>
              <a:t>How the code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5740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057400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keeps only rows where the required fields are available.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groupby()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54203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rPr dirty="0"/>
              <a:t>creates one group for each customer segment.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02666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mean()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2666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calculates the average net sales for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51129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sort_values()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3511296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puts the highest result first so the answer is easy to identify.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160520"/>
            <a:ext cx="3474720" cy="1600200"/>
          </a:xfrm>
          <a:prstGeom prst="roundRect">
            <a:avLst/>
          </a:prstGeom>
          <a:solidFill>
            <a:srgbClr val="F0F7F7"/>
          </a:solidFill>
          <a:ln>
            <a:solidFill>
              <a:srgbClr val="CD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8" y="436168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7A7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6451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62234"/>
                </a:solidFill>
                <a:latin typeface="Aptos Display"/>
              </a:defRPr>
            </a:pPr>
            <a:r>
              <a:t>Premium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0109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3F7E5E"/>
                </a:solidFill>
                <a:latin typeface="Aptos"/>
              </a:defRPr>
            </a:pPr>
            <a:r>
              <a:t>₹4,777.19 /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5376672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B6978"/>
                </a:solidFill>
                <a:latin typeface="Aptos"/>
              </a:defRPr>
            </a:pPr>
            <a:r>
              <a:t>Highest average net sales.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7F3DE49-7761-116A-1B40-F72E2E250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51376"/>
            <a:ext cx="5321808" cy="22055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10 • PROBLEM STATEMENT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Which product category has the highest average customer satisfaction?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Main idea: compare average Customer Satisfaction across Category.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5212080" cy="2286000"/>
          </a:xfrm>
          <a:prstGeom prst="roundRect">
            <a:avLst/>
          </a:prstGeom>
          <a:solidFill>
            <a:srgbClr val="1F2630"/>
          </a:solidFill>
          <a:ln>
            <a:solidFill>
              <a:srgbClr val="455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1719072"/>
            <a:ext cx="4901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80" b="1">
                <a:solidFill>
                  <a:srgbClr val="C79941"/>
                </a:solidFill>
                <a:latin typeface="Aptos"/>
              </a:defRPr>
            </a:pPr>
            <a:r>
              <a:t>MAIN NOTEBOOK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1975104"/>
            <a:ext cx="490118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satisfaction_by_category = (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problem3_df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.groupby('Category')['Customer_Satisfaction']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.mean()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    .sort_values(ascending=False)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100"/>
              </a:spcAft>
              <a:defRPr sz="860">
                <a:solidFill>
                  <a:srgbClr val="E7EDF3"/>
                </a:solidFill>
                <a:latin typeface="Consolas"/>
              </a:defRPr>
            </a:pPr>
            <a:r>
              <a:t>satisfaction_by_category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68249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62234"/>
                </a:solidFill>
                <a:latin typeface="Aptos"/>
              </a:defRPr>
            </a:pPr>
            <a:r>
              <a:t>How the code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057400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057400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keeps only rows where the required fields are available.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4203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groupby()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254203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creates one group for each category.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02666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mean()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026664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calculates the average customer satisfaction for each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51129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2B598B"/>
                </a:solidFill>
                <a:latin typeface="Consolas"/>
              </a:defRPr>
            </a:pPr>
            <a:r>
              <a:t>sort_values()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3511296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5B6978"/>
                </a:solidFill>
                <a:latin typeface="Aptos"/>
              </a:defRPr>
            </a:pPr>
            <a:r>
              <a:t>puts the highest result first so the answer is easy to identify.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160520"/>
            <a:ext cx="3474720" cy="1600200"/>
          </a:xfrm>
          <a:prstGeom prst="roundRect">
            <a:avLst/>
          </a:prstGeom>
          <a:solidFill>
            <a:srgbClr val="F0F7F7"/>
          </a:solidFill>
          <a:ln>
            <a:solidFill>
              <a:srgbClr val="CD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8" y="436168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77A7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6451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62234"/>
                </a:solidFill>
                <a:latin typeface="Aptos Display"/>
              </a:defRPr>
            </a:pPr>
            <a:r>
              <a:t>Fashion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0109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3F7E5E"/>
                </a:solidFill>
                <a:latin typeface="Aptos"/>
              </a:defRPr>
            </a:pPr>
            <a:r>
              <a:t>3.72 /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5376672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5B6978"/>
                </a:solidFill>
                <a:latin typeface="Aptos"/>
              </a:defRPr>
            </a:pPr>
            <a:r>
              <a:t>Highest average satisfaction.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64E3B91-02D2-CACD-2680-151F2133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09312"/>
            <a:ext cx="5212080" cy="21598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10 • COMBINED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Three answers, one business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The three problem statements highlight profitability, customer value and customer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292" cy="1783080"/>
          </a:xfrm>
          <a:prstGeom prst="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9292"/>
            <a:ext cx="303580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rPr sz="2000" dirty="0"/>
              <a:t>Social Media  •  ₹1,512.52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016" y="2322576"/>
            <a:ext cx="30358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rPr dirty="0"/>
              <a:t>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65476"/>
            <a:ext cx="3035808" cy="832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rPr dirty="0"/>
              <a:t>Highest average profit per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737360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1737360"/>
            <a:ext cx="50292" cy="1783080"/>
          </a:xfrm>
          <a:prstGeom prst="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874519"/>
            <a:ext cx="303580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Premium  •  ₹4,777.19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322576"/>
            <a:ext cx="30358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Customer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633472"/>
            <a:ext cx="3035808" cy="832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Highest average net sales per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737360"/>
            <a:ext cx="3401568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5008" y="1737360"/>
            <a:ext cx="50292" cy="178308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6" y="1874519"/>
            <a:ext cx="303580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Fashion  •  3.72/5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22576"/>
            <a:ext cx="303580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633472"/>
            <a:ext cx="3035808" cy="832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Highest average satisfaction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6908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B598B"/>
                </a:solidFill>
                <a:latin typeface="Aptos"/>
              </a:defRPr>
            </a:pPr>
            <a:r>
              <a:t>Simple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995928"/>
            <a:ext cx="8412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2A333F"/>
                </a:solidFill>
                <a:latin typeface="Aptos"/>
              </a:defRPr>
            </a:pPr>
            <a:r>
              <a:t>Social Media is the strongest source on average profit, Premium is the strongest segment on average net sales, and Fashion has the highest average satisfaction.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B6978"/>
                </a:solidFill>
                <a:latin typeface="Aptos"/>
              </a:defRPr>
            </a:pPr>
            <a:r>
              <a:t>Important: these are group averages. They show a useful pattern, but they do not prove that one factor caused another.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11 •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What can the business do with these findings?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Recommendations stay close to what the analysis actually supports.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691640"/>
            <a:ext cx="50292" cy="1554480"/>
          </a:xfrm>
          <a:prstGeom prst="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Review Social Media campaigns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846320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Identify which creatives, audiences and offers are linked with stronger profit.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6916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5352" y="1691640"/>
            <a:ext cx="50292" cy="1554480"/>
          </a:xfrm>
          <a:prstGeom prst="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8463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76856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Protect Premium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87752"/>
            <a:ext cx="4846320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Use retention, cross-sell and personalized offers for the high-value segment.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30168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630168"/>
            <a:ext cx="50292" cy="155448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767328"/>
            <a:ext cx="48463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15384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Learn from Fashion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4846320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Study the customer journey and identify practices that may improve lower-satisfaction categories.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630168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3630168"/>
            <a:ext cx="50292" cy="1554480"/>
          </a:xfrm>
          <a:prstGeom prst="rect">
            <a:avLst/>
          </a:prstGeom>
          <a:solidFill>
            <a:srgbClr val="3F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767328"/>
            <a:ext cx="48463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15384"/>
            <a:ext cx="4846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Measure beyond averages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26280"/>
            <a:ext cx="4846320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Add spend, conversion, order volume, repeat purchase and lifetime value before major budget 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162234"/>
                </a:solidFill>
                <a:latin typeface="Aptos"/>
              </a:defRPr>
            </a:pPr>
            <a:r>
              <a:t>Speaker line: “These findings are starting points for action. Before making a large decision, I would validate them with deeper business metrics.”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B598B"/>
                </a:solidFill>
                <a:latin typeface="Aptos"/>
              </a:defRPr>
            </a:pPr>
            <a:r>
              <a:t>12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2234"/>
                </a:solidFill>
                <a:latin typeface="Aptos Display"/>
              </a:defRPr>
            </a:pPr>
            <a:r>
              <a:t>The complete analysis in 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978"/>
                </a:solidFill>
                <a:latin typeface="Aptos"/>
              </a:defRPr>
            </a:pPr>
            <a:r>
              <a:t>A clear close: what I did, what I found and what it means.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254203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755648"/>
            <a:ext cx="50292" cy="1783080"/>
          </a:xfrm>
          <a:prstGeom prst="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892807"/>
            <a:ext cx="21762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340863"/>
            <a:ext cx="21762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51759"/>
            <a:ext cx="2176272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Checked the dataset structure and key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7" y="1755648"/>
            <a:ext cx="254203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8727" y="1755648"/>
            <a:ext cx="50292" cy="1783080"/>
          </a:xfrm>
          <a:prstGeom prst="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9896" y="1892807"/>
            <a:ext cx="21762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340863"/>
            <a:ext cx="21762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651759"/>
            <a:ext cx="2176272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Standardized fields, removed duplicates and handled invalid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755648"/>
            <a:ext cx="254203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7648" y="1755648"/>
            <a:ext cx="50292" cy="178308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8816" y="1892807"/>
            <a:ext cx="21762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340863"/>
            <a:ext cx="21762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651759"/>
            <a:ext cx="2176272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Compared group averages for the three problem statements.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16567" y="1755648"/>
            <a:ext cx="254203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F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16567" y="1755648"/>
            <a:ext cx="50292" cy="1783080"/>
          </a:xfrm>
          <a:prstGeom prst="rect">
            <a:avLst/>
          </a:prstGeom>
          <a:solidFill>
            <a:srgbClr val="3F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17736" y="1892807"/>
            <a:ext cx="21762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62234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340863"/>
            <a:ext cx="217627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1">
                <a:solidFill>
                  <a:srgbClr val="2A333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651759"/>
            <a:ext cx="2176272" cy="832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5B6978"/>
                </a:solidFill>
                <a:latin typeface="Aptos"/>
              </a:defRPr>
            </a:pPr>
            <a:r>
              <a:t>Used the results to suggest focused business actions.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62234"/>
                </a:solidFill>
                <a:latin typeface="Aptos Display"/>
              </a:defRPr>
            </a:pPr>
            <a:r>
              <a:t>Final findings: Social Media leads average profit • Premium leads average net sales • Fashion leads satisfaction.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B6978"/>
                </a:solidFill>
                <a:latin typeface="Aptos"/>
              </a:defRPr>
            </a:pPr>
            <a:r>
              <a:t>Good analytics = understand → clean → compare → explain → 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5B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B6978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2B5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52760" y="0"/>
            <a:ext cx="1536192" cy="6858000"/>
          </a:xfrm>
          <a:prstGeom prst="rect">
            <a:avLst/>
          </a:prstGeom>
          <a:solidFill>
            <a:srgbClr val="27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79941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8503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1546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DDAE6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703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DDAE6"/>
                </a:solidFill>
                <a:latin typeface="Aptos"/>
              </a:defRPr>
            </a:pPr>
            <a:r>
              <a:t>Data  →  Cleaning  →  Analysis  →  Insight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19088"/>
            <a:ext cx="10927080" cy="10972"/>
          </a:xfrm>
          <a:prstGeom prst="rect">
            <a:avLst/>
          </a:prstGeom>
          <a:solidFill>
            <a:srgbClr val="AE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AEBECC"/>
                </a:solidFill>
                <a:latin typeface="Aptos"/>
              </a:defRPr>
            </a:pPr>
            <a:r>
              <a:t>E-commerce Customer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73952"/>
            <a:ext cx="640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AEBEC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1617</Words>
  <Application>Microsoft Office PowerPoint</Application>
  <PresentationFormat>Widescreen</PresentationFormat>
  <Paragraphs>308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Madhu Kunchala</cp:lastModifiedBy>
  <cp:revision>4</cp:revision>
  <dcterms:created xsi:type="dcterms:W3CDTF">2013-01-27T09:14:16Z</dcterms:created>
  <dcterms:modified xsi:type="dcterms:W3CDTF">2026-08-28T03:08:27Z</dcterms:modified>
  <cp:category/>
</cp:coreProperties>
</file>